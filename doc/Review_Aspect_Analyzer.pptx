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Validation</c:v>
                </c:pt>
              </c:strCache>
            </c:strRef>
          </c:tx>
          <c:spPr>
            <a:solidFill>
              <a:srgbClr val="8D99AE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Accuracy</c:v>
                  </c:pt>
                  <c:pt idx="1">
                    <c:v>Macro-F1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0.7711</c:v>
                </c:pt>
                <c:pt idx="1">
                  <c:v>0.6671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Test</c:v>
                </c:pt>
              </c:strCache>
            </c:strRef>
          </c:tx>
          <c:spPr>
            <a:solidFill>
              <a:srgbClr val="2A9D8F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Accuracy</c:v>
                  </c:pt>
                  <c:pt idx="1">
                    <c:v>Macro-F1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0.8027</c:v>
                </c:pt>
                <c:pt idx="1">
                  <c:v>0.7408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100" u="none">
                  <a:solidFill>
                    <a:srgbClr val="00000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22B36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DDDDD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880360"/>
            <a:ext cx="1097280" cy="54864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1280160"/>
            <a:ext cx="804672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38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548640" y="3108960"/>
            <a:ext cx="804672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274320"/>
            <a:ext cx="804672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b="1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548640" y="987552"/>
            <a:ext cx="822960" cy="4572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1280160"/>
            <a:ext cx="8046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Customer Review Aspect Analyzer</a:t>
            </a:r>
            <a:endParaRPr lang="en-US" sz="38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548640" y="310896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Aspect-Based Sentiment Analysis using BERT  |  Minor Project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27432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Problem and Objective</a:t>
            </a:r>
            <a:endParaRPr lang="en-US" sz="2800" dirty="0"/>
          </a:p>
        </p:txBody>
      </p:sp>
      <p:sp>
        <p:nvSpPr>
          <p:cNvPr id="3" name="problem points"/>
          <p:cNvSpPr txBox="1"/>
          <p:nvPr/>
        </p:nvSpPr>
        <p:spPr>
          <a:xfrm>
            <a:off x="548640" y="1280160"/>
            <a:ext cx="42062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 normal sentiment classifier gives one label for a whole review.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Real reviews are mixed, so one label hides useful information.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Objective: find the aspects in a review and give a separate sentiment for each one.</a:t>
            </a:r>
            <a:endParaRPr lang="en-US" sz="1600" dirty="0"/>
          </a:p>
        </p:txBody>
      </p:sp>
      <p:sp>
        <p:nvSpPr>
          <p:cNvPr id="4" name="example card"/>
          <p:cNvSpPr/>
          <p:nvPr/>
        </p:nvSpPr>
        <p:spPr>
          <a:xfrm>
            <a:off x="5029200" y="1280160"/>
            <a:ext cx="3566160" cy="29260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example head"/>
          <p:cNvSpPr txBox="1"/>
          <p:nvPr/>
        </p:nvSpPr>
        <p:spPr>
          <a:xfrm>
            <a:off x="5257800" y="13716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Example review</a:t>
            </a:r>
            <a:endParaRPr lang="en-US" sz="1400" dirty="0"/>
          </a:p>
        </p:txBody>
      </p:sp>
      <p:sp>
        <p:nvSpPr>
          <p:cNvPr id="6" name="example text"/>
          <p:cNvSpPr txBox="1"/>
          <p:nvPr/>
        </p:nvSpPr>
        <p:spPr>
          <a:xfrm>
            <a:off x="5257800" y="173736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tx1"/>
                </a:solidFill>
              </a:rPr>
              <a:t>"The battery life is amazing, but the camera is terrible and the price is too high."</a:t>
            </a:r>
            <a:endParaRPr lang="en-US" sz="1200" dirty="0"/>
          </a:p>
        </p:txBody>
      </p:sp>
      <p:graphicFrame>
        <p:nvGraphicFramePr>
          <p:cNvPr id="3" name="example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257800" y="2743200"/>
          <a:ext cx="310896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5544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Aspect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Sentiment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battery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6"/>
                          </a:solidFill>
                        </a:rPr>
                        <a:t>positive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camera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2"/>
                          </a:solidFill>
                        </a:rPr>
                        <a:t>negative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price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2"/>
                          </a:solidFill>
                        </a:rPr>
                        <a:t>negative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27432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How It Works</a:t>
            </a:r>
            <a:endParaRPr lang="en-US" sz="2800" dirty="0"/>
          </a:p>
        </p:txBody>
      </p:sp>
      <p:sp>
        <p:nvSpPr>
          <p:cNvPr id="3" name="step 1"/>
          <p:cNvSpPr/>
          <p:nvPr/>
        </p:nvSpPr>
        <p:spPr>
          <a:xfrm>
            <a:off x="548640" y="1463040"/>
            <a:ext cx="1783080" cy="20116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tep head 1"/>
          <p:cNvSpPr txBox="1"/>
          <p:nvPr/>
        </p:nvSpPr>
        <p:spPr>
          <a:xfrm>
            <a:off x="685800" y="160020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1. Review</a:t>
            </a:r>
            <a:endParaRPr lang="en-US" sz="1500" dirty="0"/>
          </a:p>
        </p:txBody>
      </p:sp>
      <p:sp>
        <p:nvSpPr>
          <p:cNvPr id="5" name="step text 1"/>
          <p:cNvSpPr txBox="1"/>
          <p:nvPr/>
        </p:nvSpPr>
        <p:spPr>
          <a:xfrm>
            <a:off x="685800" y="2057400"/>
            <a:ext cx="1508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User types or selects a review</a:t>
            </a:r>
            <a:endParaRPr lang="en-US" sz="1200" dirty="0"/>
          </a:p>
        </p:txBody>
      </p:sp>
      <p:sp>
        <p:nvSpPr>
          <p:cNvPr id="6" name="arrow 1"/>
          <p:cNvSpPr txBox="1"/>
          <p:nvPr/>
        </p:nvSpPr>
        <p:spPr>
          <a:xfrm>
            <a:off x="2331720" y="219456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→</a:t>
            </a:r>
            <a:endParaRPr lang="en-US" sz="2200" dirty="0"/>
          </a:p>
        </p:txBody>
      </p:sp>
      <p:sp>
        <p:nvSpPr>
          <p:cNvPr id="7" name="step 2"/>
          <p:cNvSpPr/>
          <p:nvPr/>
        </p:nvSpPr>
        <p:spPr>
          <a:xfrm>
            <a:off x="2697480" y="1463040"/>
            <a:ext cx="1783080" cy="20116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step head 2"/>
          <p:cNvSpPr txBox="1"/>
          <p:nvPr/>
        </p:nvSpPr>
        <p:spPr>
          <a:xfrm>
            <a:off x="2834640" y="160020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2. Split</a:t>
            </a:r>
            <a:endParaRPr lang="en-US" sz="1500" dirty="0"/>
          </a:p>
        </p:txBody>
      </p:sp>
      <p:sp>
        <p:nvSpPr>
          <p:cNvPr id="9" name="step text 2"/>
          <p:cNvSpPr txBox="1"/>
          <p:nvPr/>
        </p:nvSpPr>
        <p:spPr>
          <a:xfrm>
            <a:off x="2834640" y="2057400"/>
            <a:ext cx="1508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Review is split into sentences</a:t>
            </a:r>
            <a:endParaRPr lang="en-US" sz="1200" dirty="0"/>
          </a:p>
        </p:txBody>
      </p:sp>
      <p:sp>
        <p:nvSpPr>
          <p:cNvPr id="10" name="arrow 2"/>
          <p:cNvSpPr txBox="1"/>
          <p:nvPr/>
        </p:nvSpPr>
        <p:spPr>
          <a:xfrm>
            <a:off x="4480560" y="219456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→</a:t>
            </a:r>
            <a:endParaRPr lang="en-US" sz="2200" dirty="0"/>
          </a:p>
        </p:txBody>
      </p:sp>
      <p:sp>
        <p:nvSpPr>
          <p:cNvPr id="11" name="step 3"/>
          <p:cNvSpPr/>
          <p:nvPr/>
        </p:nvSpPr>
        <p:spPr>
          <a:xfrm>
            <a:off x="4846320" y="1463040"/>
            <a:ext cx="1783080" cy="20116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step head 3"/>
          <p:cNvSpPr txBox="1"/>
          <p:nvPr/>
        </p:nvSpPr>
        <p:spPr>
          <a:xfrm>
            <a:off x="4983480" y="160020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3. Find aspects</a:t>
            </a:r>
            <a:endParaRPr lang="en-US" sz="1500" dirty="0"/>
          </a:p>
        </p:txBody>
      </p:sp>
      <p:sp>
        <p:nvSpPr>
          <p:cNvPr id="13" name="step text 3"/>
          <p:cNvSpPr txBox="1"/>
          <p:nvPr/>
        </p:nvSpPr>
        <p:spPr>
          <a:xfrm>
            <a:off x="4983480" y="2057400"/>
            <a:ext cx="1508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spaCy takes the head noun of each noun phrase</a:t>
            </a:r>
            <a:endParaRPr lang="en-US" sz="1200" dirty="0"/>
          </a:p>
        </p:txBody>
      </p:sp>
      <p:sp>
        <p:nvSpPr>
          <p:cNvPr id="14" name="arrow 3"/>
          <p:cNvSpPr txBox="1"/>
          <p:nvPr/>
        </p:nvSpPr>
        <p:spPr>
          <a:xfrm>
            <a:off x="6629400" y="219456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→</a:t>
            </a:r>
            <a:endParaRPr lang="en-US" sz="2200" dirty="0"/>
          </a:p>
        </p:txBody>
      </p:sp>
      <p:sp>
        <p:nvSpPr>
          <p:cNvPr id="15" name="step 4"/>
          <p:cNvSpPr/>
          <p:nvPr/>
        </p:nvSpPr>
        <p:spPr>
          <a:xfrm>
            <a:off x="6995160" y="1463040"/>
            <a:ext cx="1783080" cy="201168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step head 4"/>
          <p:cNvSpPr txBox="1"/>
          <p:nvPr/>
        </p:nvSpPr>
        <p:spPr>
          <a:xfrm>
            <a:off x="7132320" y="160020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4. Sentiment</a:t>
            </a:r>
            <a:endParaRPr lang="en-US" sz="1500" dirty="0"/>
          </a:p>
        </p:txBody>
      </p:sp>
      <p:sp>
        <p:nvSpPr>
          <p:cNvPr id="17" name="step text 4"/>
          <p:cNvSpPr txBox="1"/>
          <p:nvPr/>
        </p:nvSpPr>
        <p:spPr>
          <a:xfrm>
            <a:off x="7132320" y="2057400"/>
            <a:ext cx="1508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BERT predicts negative, neutral or positive for each aspect</a:t>
            </a:r>
            <a:endParaRPr lang="en-US" sz="1200" dirty="0"/>
          </a:p>
        </p:txBody>
      </p:sp>
      <p:sp>
        <p:nvSpPr>
          <p:cNvPr id="18" name="output note"/>
          <p:cNvSpPr txBox="1"/>
          <p:nvPr/>
        </p:nvSpPr>
        <p:spPr>
          <a:xfrm>
            <a:off x="548640" y="38404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Output: a table with aspect, sentiment, confidence and the sentence it came from.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27432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Dataset and Model</a:t>
            </a:r>
            <a:endParaRPr lang="en-US" sz="2800" dirty="0"/>
          </a:p>
        </p:txBody>
      </p:sp>
      <p:sp>
        <p:nvSpPr>
          <p:cNvPr id="3" name="dataset card"/>
          <p:cNvSpPr/>
          <p:nvPr/>
        </p:nvSpPr>
        <p:spPr>
          <a:xfrm>
            <a:off x="548640" y="1325880"/>
            <a:ext cx="3931920" cy="29260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dataset accent"/>
          <p:cNvSpPr/>
          <p:nvPr/>
        </p:nvSpPr>
        <p:spPr>
          <a:xfrm>
            <a:off x="548640" y="1325880"/>
            <a:ext cx="64008" cy="292608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dataset head"/>
          <p:cNvSpPr txBox="1"/>
          <p:nvPr/>
        </p:nvSpPr>
        <p:spPr>
          <a:xfrm>
            <a:off x="777240" y="143560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Dataset: SemEval-2014 Task 4</a:t>
            </a:r>
            <a:endParaRPr lang="en-US" sz="1600" dirty="0"/>
          </a:p>
        </p:txBody>
      </p:sp>
      <p:sp>
        <p:nvSpPr>
          <p:cNvPr id="6" name="dataset body"/>
          <p:cNvSpPr txBox="1"/>
          <p:nvPr/>
        </p:nvSpPr>
        <p:spPr>
          <a:xfrm>
            <a:off x="777240" y="1828800"/>
            <a:ext cx="356616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Restaurant reviews, aspect term polarity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3569 (sentence, aspect) pairs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3 classes: negative, neutral, positive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Split by sentence: 2837 train, 367 val, 365 test</a:t>
            </a:r>
            <a:endParaRPr lang="en-US" sz="1300" dirty="0"/>
          </a:p>
        </p:txBody>
      </p:sp>
      <p:sp>
        <p:nvSpPr>
          <p:cNvPr id="7" name="model card"/>
          <p:cNvSpPr/>
          <p:nvPr/>
        </p:nvSpPr>
        <p:spPr>
          <a:xfrm>
            <a:off x="4663440" y="1325880"/>
            <a:ext cx="3931920" cy="29260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model accent"/>
          <p:cNvSpPr/>
          <p:nvPr/>
        </p:nvSpPr>
        <p:spPr>
          <a:xfrm>
            <a:off x="4663440" y="1325880"/>
            <a:ext cx="64008" cy="292608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model head"/>
          <p:cNvSpPr txBox="1"/>
          <p:nvPr/>
        </p:nvSpPr>
        <p:spPr>
          <a:xfrm>
            <a:off x="4892040" y="143560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Model: BERT (bert-base-uncased)</a:t>
            </a:r>
            <a:endParaRPr lang="en-US" sz="1600" dirty="0"/>
          </a:p>
        </p:txBody>
      </p:sp>
      <p:sp>
        <p:nvSpPr>
          <p:cNvPr id="10" name="model body"/>
          <p:cNvSpPr txBox="1"/>
          <p:nvPr/>
        </p:nvSpPr>
        <p:spPr>
          <a:xfrm>
            <a:off x="4892040" y="1828800"/>
            <a:ext cx="356616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Sentence and aspect given to BERT as a pair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Fine-tuned (transfer learning) with a 3-class head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4 epochs, learning rate 2e-5, batch size 16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Trained on a Google Colab GPU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27432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Results</a:t>
            </a:r>
            <a:endParaRPr lang="en-US" sz="2800" dirty="0"/>
          </a:p>
        </p:txBody>
      </p:sp>
      <p:graphicFrame>
        <p:nvGraphicFramePr>
          <p:cNvPr id="3" name="results chart" descr=""/>
          <p:cNvGraphicFramePr/>
          <p:nvPr/>
        </p:nvGraphicFramePr>
        <p:xfrm>
          <a:off x="548640" y="1234440"/>
          <a:ext cx="475488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acc card"/>
          <p:cNvSpPr/>
          <p:nvPr/>
        </p:nvSpPr>
        <p:spPr>
          <a:xfrm>
            <a:off x="5577840" y="1325880"/>
            <a:ext cx="3017520" cy="13258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acc accent"/>
          <p:cNvSpPr/>
          <p:nvPr/>
        </p:nvSpPr>
        <p:spPr>
          <a:xfrm>
            <a:off x="5577840" y="1325880"/>
            <a:ext cx="64008" cy="132588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acc head"/>
          <p:cNvSpPr txBox="1"/>
          <p:nvPr/>
        </p:nvSpPr>
        <p:spPr>
          <a:xfrm>
            <a:off x="5806440" y="143560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Test accuracy</a:t>
            </a:r>
            <a:endParaRPr lang="en-US" sz="1600" dirty="0"/>
          </a:p>
        </p:txBody>
      </p:sp>
      <p:sp>
        <p:nvSpPr>
          <p:cNvPr id="7" name="acc body"/>
          <p:cNvSpPr txBox="1"/>
          <p:nvPr/>
        </p:nvSpPr>
        <p:spPr>
          <a:xfrm>
            <a:off x="5806440" y="182880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77.26%</a:t>
            </a:r>
            <a:endParaRPr lang="en-US" sz="1300" dirty="0"/>
          </a:p>
        </p:txBody>
      </p:sp>
      <p:sp>
        <p:nvSpPr>
          <p:cNvPr id="8" name="f1 card"/>
          <p:cNvSpPr/>
          <p:nvPr/>
        </p:nvSpPr>
        <p:spPr>
          <a:xfrm>
            <a:off x="5577840" y="2834640"/>
            <a:ext cx="3017520" cy="14173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f1 accent"/>
          <p:cNvSpPr/>
          <p:nvPr/>
        </p:nvSpPr>
        <p:spPr>
          <a:xfrm>
            <a:off x="5577840" y="2834640"/>
            <a:ext cx="64008" cy="141732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f1 head"/>
          <p:cNvSpPr txBox="1"/>
          <p:nvPr/>
        </p:nvSpPr>
        <p:spPr>
          <a:xfrm>
            <a:off x="5806440" y="294436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Test macro-F1</a:t>
            </a:r>
            <a:endParaRPr lang="en-US" sz="1600" dirty="0"/>
          </a:p>
        </p:txBody>
      </p:sp>
      <p:sp>
        <p:nvSpPr>
          <p:cNvPr id="11" name="f1 body"/>
          <p:cNvSpPr txBox="1"/>
          <p:nvPr/>
        </p:nvSpPr>
        <p:spPr>
          <a:xfrm>
            <a:off x="5806440" y="333756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0.7089</a:t>
            </a:r>
            <a:endParaRPr lang="en-US" sz="1300" dirty="0"/>
          </a:p>
        </p:txBody>
      </p:sp>
      <p:sp>
        <p:nvSpPr>
          <p:cNvPr id="12" name="results note"/>
          <p:cNvSpPr txBox="1"/>
          <p:nvPr/>
        </p:nvSpPr>
        <p:spPr>
          <a:xfrm>
            <a:off x="548640" y="43891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tx1"/>
                </a:solidFill>
              </a:rPr>
              <a:t>Accuracy is higher than macro-F1 because the neutral class has fewer examples and is the hardest for the model.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27432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Web App (Streamlit)</a:t>
            </a:r>
            <a:endParaRPr lang="en-US" sz="2800" dirty="0"/>
          </a:p>
        </p:txBody>
      </p:sp>
      <p:sp>
        <p:nvSpPr>
          <p:cNvPr id="3" name="use card"/>
          <p:cNvSpPr/>
          <p:nvPr/>
        </p:nvSpPr>
        <p:spPr>
          <a:xfrm>
            <a:off x="548640" y="1325880"/>
            <a:ext cx="3931920" cy="29260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use accent"/>
          <p:cNvSpPr/>
          <p:nvPr/>
        </p:nvSpPr>
        <p:spPr>
          <a:xfrm>
            <a:off x="548640" y="1325880"/>
            <a:ext cx="64008" cy="292608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use head"/>
          <p:cNvSpPr txBox="1"/>
          <p:nvPr/>
        </p:nvSpPr>
        <p:spPr>
          <a:xfrm>
            <a:off x="777240" y="143560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How to use it</a:t>
            </a:r>
            <a:endParaRPr lang="en-US" sz="1600" dirty="0"/>
          </a:p>
        </p:txBody>
      </p:sp>
      <p:sp>
        <p:nvSpPr>
          <p:cNvPr id="6" name="use body"/>
          <p:cNvSpPr txBox="1"/>
          <p:nvPr/>
        </p:nvSpPr>
        <p:spPr>
          <a:xfrm>
            <a:off x="777240" y="1828800"/>
            <a:ext cx="356616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Pick an example review from the dropdown, or type your own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Click Analyze review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See each aspect with its sentiment, confidence and sentence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Sentiments are colour coded: green, grey, red</a:t>
            </a:r>
            <a:endParaRPr lang="en-US" sz="1300" dirty="0"/>
          </a:p>
        </p:txBody>
      </p:sp>
      <p:sp>
        <p:nvSpPr>
          <p:cNvPr id="7" name="tech card"/>
          <p:cNvSpPr/>
          <p:nvPr/>
        </p:nvSpPr>
        <p:spPr>
          <a:xfrm>
            <a:off x="4663440" y="1325880"/>
            <a:ext cx="3931920" cy="29260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ch accent"/>
          <p:cNvSpPr/>
          <p:nvPr/>
        </p:nvSpPr>
        <p:spPr>
          <a:xfrm>
            <a:off x="4663440" y="1325880"/>
            <a:ext cx="64008" cy="292608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ch head"/>
          <p:cNvSpPr txBox="1"/>
          <p:nvPr/>
        </p:nvSpPr>
        <p:spPr>
          <a:xfrm>
            <a:off x="4892040" y="143560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Tech used</a:t>
            </a:r>
            <a:endParaRPr lang="en-US" sz="1600" dirty="0"/>
          </a:p>
        </p:txBody>
      </p:sp>
      <p:sp>
        <p:nvSpPr>
          <p:cNvPr id="10" name="tech body"/>
          <p:cNvSpPr txBox="1"/>
          <p:nvPr/>
        </p:nvSpPr>
        <p:spPr>
          <a:xfrm>
            <a:off x="4892040" y="1828800"/>
            <a:ext cx="356616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Python, PyTorch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Hugging Face Transformers (BERT)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spaCy for aspect extraction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scikit-learn for metrics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Streamlit for the interface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27432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Limitations, Future Work and Conclusion</a:t>
            </a:r>
            <a:endParaRPr lang="en-US" sz="2800" dirty="0"/>
          </a:p>
        </p:txBody>
      </p:sp>
      <p:sp>
        <p:nvSpPr>
          <p:cNvPr id="3" name="limits card"/>
          <p:cNvSpPr/>
          <p:nvPr/>
        </p:nvSpPr>
        <p:spPr>
          <a:xfrm>
            <a:off x="548640" y="1280160"/>
            <a:ext cx="3931920" cy="21488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limits accent"/>
          <p:cNvSpPr/>
          <p:nvPr/>
        </p:nvSpPr>
        <p:spPr>
          <a:xfrm>
            <a:off x="548640" y="1280160"/>
            <a:ext cx="64008" cy="214884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limits head"/>
          <p:cNvSpPr txBox="1"/>
          <p:nvPr/>
        </p:nvSpPr>
        <p:spPr>
          <a:xfrm>
            <a:off x="777240" y="138988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Limitations</a:t>
            </a:r>
            <a:endParaRPr lang="en-US" sz="1600" dirty="0"/>
          </a:p>
        </p:txBody>
      </p:sp>
      <p:sp>
        <p:nvSpPr>
          <p:cNvPr id="6" name="limits body"/>
          <p:cNvSpPr txBox="1"/>
          <p:nvPr/>
        </p:nvSpPr>
        <p:spPr>
          <a:xfrm>
            <a:off x="777240" y="1783080"/>
            <a:ext cx="3566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Rule-based aspect extraction can miss or add wrong aspects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Trained on restaurant reviews only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Sarcasm is hard; neutral class is weakest</a:t>
            </a:r>
            <a:endParaRPr lang="en-US" sz="1300" dirty="0"/>
          </a:p>
        </p:txBody>
      </p:sp>
      <p:sp>
        <p:nvSpPr>
          <p:cNvPr id="7" name="future card"/>
          <p:cNvSpPr/>
          <p:nvPr/>
        </p:nvSpPr>
        <p:spPr>
          <a:xfrm>
            <a:off x="4663440" y="1280160"/>
            <a:ext cx="3931920" cy="21488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future accent"/>
          <p:cNvSpPr/>
          <p:nvPr/>
        </p:nvSpPr>
        <p:spPr>
          <a:xfrm>
            <a:off x="4663440" y="1280160"/>
            <a:ext cx="64008" cy="214884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future head"/>
          <p:cNvSpPr txBox="1"/>
          <p:nvPr/>
        </p:nvSpPr>
        <p:spPr>
          <a:xfrm>
            <a:off x="4892040" y="138988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Future work</a:t>
            </a:r>
            <a:endParaRPr lang="en-US" sz="1600" dirty="0"/>
          </a:p>
        </p:txBody>
      </p:sp>
      <p:sp>
        <p:nvSpPr>
          <p:cNvPr id="10" name="future body"/>
          <p:cNvSpPr txBox="1"/>
          <p:nvPr/>
        </p:nvSpPr>
        <p:spPr>
          <a:xfrm>
            <a:off x="4892040" y="1783080"/>
            <a:ext cx="3566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Train a model for aspect extraction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Group similar aspects (waiter, staff)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Analyze many reviews at once</a:t>
            </a:r>
            <a:endParaRPr lang="en-US" sz="1300" dirty="0"/>
          </a:p>
        </p:txBody>
      </p:sp>
      <p:sp>
        <p:nvSpPr>
          <p:cNvPr id="11" name="conclusion box"/>
          <p:cNvSpPr/>
          <p:nvPr/>
        </p:nvSpPr>
        <p:spPr>
          <a:xfrm>
            <a:off x="548640" y="3611880"/>
            <a:ext cx="8046720" cy="86868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2" name="conclusion text"/>
          <p:cNvSpPr txBox="1"/>
          <p:nvPr/>
        </p:nvSpPr>
        <p:spPr>
          <a:xfrm>
            <a:off x="777240" y="3657600"/>
            <a:ext cx="7589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Conclusion: a fine-tuned BERT model reached 77.26% test accuracy and gives a sentiment for each aspect of a review, which is more useful than one overall label.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viewAnalyzer">
  <a:themeElements>
    <a:clrScheme name="ReviewAnalyzer">
      <a:dk1>
        <a:srgbClr val="222B36"/>
      </a:dk1>
      <a:lt1>
        <a:srgbClr val="FFFFFF"/>
      </a:lt1>
      <a:dk2>
        <a:srgbClr val="1F3A5F"/>
      </a:dk2>
      <a:lt2>
        <a:srgbClr val="EEF3F8"/>
      </a:lt2>
      <a:accent1>
        <a:srgbClr val="2A9D8F"/>
      </a:accent1>
      <a:accent2>
        <a:srgbClr val="E76F51"/>
      </a:accent2>
      <a:accent3>
        <a:srgbClr val="8D99AE"/>
      </a:accent3>
      <a:accent4>
        <a:srgbClr val="F4A261"/>
      </a:accent4>
      <a:accent5>
        <a:srgbClr val="457B9D"/>
      </a:accent5>
      <a:accent6>
        <a:srgbClr val="6A994E"/>
      </a:accent6>
      <a:hlink>
        <a:srgbClr val="2A9D8F"/>
      </a:hlink>
      <a:folHlink>
        <a:srgbClr val="8D99AE"/>
      </a:folHlink>
    </a:clrScheme>
    <a:fontScheme name="ReviewAnalyzer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2026-10-04T17:27:03Z</dcterms:created>
  <dcterms:modified xsi:type="dcterms:W3CDTF">2026-10-04T17:27:03Z</dcterms:modified>
</cp:coreProperties>
</file>